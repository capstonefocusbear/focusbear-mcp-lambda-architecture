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8686800" y="-1417320"/>
            <a:ext cx="4754880" cy="4754880"/>
          </a:xfrm>
          <a:prstGeom prst="arc">
            <a:avLst/>
          </a:prstGeom>
          <a:noFill/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70D5C8"/>
                </a:solidFill>
                <a:latin typeface="Aptos"/>
              </a:rPr>
              <a:t>FOCUS BEAR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731520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AWS Lambda MCP
Architecture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53512"/>
            <a:ext cx="7040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8E7F5"/>
                </a:solidFill>
                <a:latin typeface="Aptos"/>
              </a:rPr>
              <a:t>A secure, scalable way to give AI agents scoped access to Focus Bear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2971800" cy="621792"/>
          </a:xfrm>
          <a:prstGeom prst="roundRect">
            <a:avLst/>
          </a:prstGeom>
          <a:solidFill>
            <a:srgbClr val="173C63"/>
          </a:solidFill>
          <a:ln w="12700">
            <a:solidFill>
              <a:srgbClr val="2A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087368"/>
            <a:ext cx="2651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Client presentation  |  11 Sep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626364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AB8D1"/>
                </a:solidFill>
                <a:latin typeface="Aptos"/>
              </a:rPr>
              <a:t>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EXECUTIVE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Recommended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Start with a thin, stateless MCP adapter; keep Focus Bear’s API and database as the source of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3520440" cy="196596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847088"/>
            <a:ext cx="82296" cy="1965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1912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Public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3172968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API Gateway REST API
• HTTPS endpoint
• rate limits and optional WAF
• response streaming when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847088"/>
            <a:ext cx="3520440" cy="1965960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47088"/>
            <a:ext cx="82296" cy="19659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93392"/>
            <a:ext cx="31912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MCP 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14016"/>
            <a:ext cx="3172968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AWS Lambda
• validates MCP protocol
• maps tools to API requests
• does not own business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47088"/>
            <a:ext cx="3520440" cy="19659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847088"/>
            <a:ext cx="82296" cy="1965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93392"/>
            <a:ext cx="319125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Focus Bear 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414016"/>
            <a:ext cx="3172968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Existing NestJS API + PostgreSQL
• validates user token and scopes
• preserves agent/task assignment
• applies domain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206240"/>
            <a:ext cx="10972800" cy="130759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416552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50" b="1">
                <a:solidFill>
                  <a:srgbClr val="0B2545"/>
                </a:solidFill>
                <a:latin typeface="Aptos"/>
              </a:rPr>
              <a:t>Why this is the right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44" y="4334256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40" b="1">
                <a:solidFill>
                  <a:srgbClr val="1B998B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256" y="4334256"/>
            <a:ext cx="797356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40" b="0">
                <a:solidFill>
                  <a:srgbClr val="52657A"/>
                </a:solidFill>
                <a:latin typeface="Aptos"/>
              </a:rPr>
              <a:t>Fast to ship: reuses the existing external-MCP endpoints and permission checks.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459028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40" b="1">
                <a:solidFill>
                  <a:srgbClr val="1B998B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1256" y="4590288"/>
            <a:ext cx="797356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40" b="0">
                <a:solidFill>
                  <a:srgbClr val="52657A"/>
                </a:solidFill>
                <a:latin typeface="Aptos"/>
              </a:rPr>
              <a:t>Low operational overhead: no new database, queue, or always-on service.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0944" y="484632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40" b="1">
                <a:solidFill>
                  <a:srgbClr val="1B99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1256" y="4846320"/>
            <a:ext cx="797356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40" b="0">
                <a:solidFill>
                  <a:srgbClr val="52657A"/>
                </a:solidFill>
                <a:latin typeface="Aptos"/>
              </a:rPr>
              <a:t>Safe evolution path: add OAuth, more tools, or container hosting only when usage requires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CURRENT-STATE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It builds on the architecture already in Focus Bear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The repository already has an external MCP API boundary and a Lambda-oriented MCP server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965960" cy="978408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MCP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5176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Presents a token
and asks for a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2194560"/>
            <a:ext cx="1965960" cy="978408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AWS Lambda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65176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Protocol adapter
and request mapper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2194560"/>
            <a:ext cx="1965960" cy="97840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33172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Focus Bear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65176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NestJS controllers,
guards and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2194560"/>
            <a:ext cx="1965960" cy="978408"/>
          </a:xfrm>
          <a:prstGeom prst="roundRect">
            <a:avLst/>
          </a:prstGeom>
          <a:solidFill>
            <a:srgbClr val="FDF0D5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233172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Task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65176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Scope + agent
assignment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2194560"/>
            <a:ext cx="1965960" cy="97840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0655" y="233172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65176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Tasks, projects
and token records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2679192"/>
            <a:ext cx="274320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73752" y="2679192"/>
            <a:ext cx="274320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41464" y="2679192"/>
            <a:ext cx="274319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09176" y="2679192"/>
            <a:ext cx="274320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4096512"/>
            <a:ext cx="5349240" cy="17830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96512"/>
            <a:ext cx="82296" cy="1783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242816"/>
            <a:ext cx="502005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Existing building 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663440"/>
            <a:ext cx="5001768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• External MCP task endpoints
• Bearer-token validation and scopes
• Token-to-agent assignment on tasks
• Per-token throttling
• A Lambda streaming 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96512"/>
            <a:ext cx="5074920" cy="1783080"/>
          </a:xfrm>
          <a:prstGeom prst="roundRect">
            <a:avLst/>
          </a:prstGeom>
          <a:solidFill>
            <a:srgbClr val="FBE7E8"/>
          </a:solidFill>
          <a:ln w="12700">
            <a:solidFill>
              <a:srgbClr val="C95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096512"/>
            <a:ext cx="82296" cy="1783080"/>
          </a:xfrm>
          <a:prstGeom prst="rect">
            <a:avLst/>
          </a:prstGeom>
          <a:solidFill>
            <a:srgbClr val="C9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242816"/>
            <a:ext cx="47457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Important v1 cleanup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4663440"/>
            <a:ext cx="4727448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• Remove development fallback credentials
• Restore real authentication on token issuance
• Make the internal service key a required secret
• Agree an explicit public endpoint / network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One clear request path, with two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The Lambda layer is deliberately thin; the Focus Bear API remains the policy enforcement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1965960" cy="978408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7744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MCP client
Bearer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240280"/>
            <a:ext cx="1965960" cy="978408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237744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9748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REST API
/ mcp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2240280"/>
            <a:ext cx="1965960" cy="978408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37744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Lambda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69748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MCP protocol
input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4" y="2240280"/>
            <a:ext cx="1965960" cy="97840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37744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Focus Bear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269748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Internal key +
user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2240280"/>
            <a:ext cx="1965960" cy="978408"/>
          </a:xfrm>
          <a:prstGeom prst="roundRect">
            <a:avLst/>
          </a:prstGeom>
          <a:solidFill>
            <a:srgbClr val="FDF0D5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59" y="2377440"/>
            <a:ext cx="1746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B2545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697480"/>
            <a:ext cx="1728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52657A"/>
                </a:solidFill>
                <a:latin typeface="Aptos"/>
              </a:rPr>
              <a:t>PostgreSQL
existing schema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2724912"/>
            <a:ext cx="292607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18888" y="2724912"/>
            <a:ext cx="292608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77456" y="2724912"/>
            <a:ext cx="292608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36024" y="2724912"/>
            <a:ext cx="292608" cy="0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10912" y="3977639"/>
            <a:ext cx="219456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169663"/>
            <a:ext cx="18105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50" b="1">
                <a:solidFill>
                  <a:srgbClr val="0B2545"/>
                </a:solidFill>
                <a:latin typeface="Aptos"/>
              </a:rPr>
              <a:t>Secrets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4425696"/>
            <a:ext cx="19568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2657A"/>
                </a:solidFill>
                <a:latin typeface="Aptos"/>
              </a:rPr>
              <a:t>rotated internal credential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108192" y="3310128"/>
            <a:ext cx="0" cy="667511"/>
          </a:xfrm>
          <a:prstGeom prst="line">
            <a:avLst/>
          </a:prstGeom>
          <a:ln w="2032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62672" y="3977639"/>
            <a:ext cx="2212848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4169663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Aptos"/>
              </a:rPr>
              <a:t>CloudWatch + X-Ray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4425696"/>
            <a:ext cx="19568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2657A"/>
                </a:solidFill>
                <a:latin typeface="Aptos"/>
              </a:rPr>
              <a:t>safe logs, traces, alarms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759952" y="3310128"/>
            <a:ext cx="0" cy="667511"/>
          </a:xfrm>
          <a:prstGeom prst="line">
            <a:avLst/>
          </a:prstGeom>
          <a:ln w="2032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5257800"/>
            <a:ext cx="5303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Trust boundary 1: public MCP client → AWS
Trust boundary 2: AWS adapter → Focus Bear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OPTIONS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Hosting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Recommendation is driven by MCP transport compatibility and low operational burden, not technology novelty.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65376"/>
            <a:ext cx="2743200" cy="3520440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65376"/>
            <a:ext cx="82296" cy="35204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11680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Recommended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32304"/>
            <a:ext cx="2395728" cy="2862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57A"/>
                </a:solidFill>
                <a:latin typeface="Aptos"/>
              </a:rPr>
              <a:t>API Gateway REST API + Lambda
Pros: supports Lambda response streaming; managed edge controls; serverless operations.
Trade-off: slightly more configuration than HTTP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865376"/>
            <a:ext cx="2743200" cy="35204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1865376"/>
            <a:ext cx="82296" cy="35204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011680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Conditional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432304"/>
            <a:ext cx="2395728" cy="2862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57A"/>
                </a:solidFill>
                <a:latin typeface="Aptos"/>
              </a:rPr>
              <a:t>API Gateway HTTP API + Lambda
Pros: simpler and often lower cost.
Trade-off: use only if all target MCP clients work with buffered HTTP responses; not the streaming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1384" y="1865376"/>
            <a:ext cx="2450592" cy="3520440"/>
          </a:xfrm>
          <a:prstGeom prst="roundRect">
            <a:avLst/>
          </a:prstGeom>
          <a:solidFill>
            <a:srgbClr val="FDF0D5"/>
          </a:solidFill>
          <a:ln w="12700">
            <a:solidFill>
              <a:srgbClr val="C99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1384" y="1865376"/>
            <a:ext cx="82296" cy="3520440"/>
          </a:xfrm>
          <a:prstGeom prst="rect">
            <a:avLst/>
          </a:prstGeom>
          <a:solidFill>
            <a:srgbClr val="C9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011680"/>
            <a:ext cx="21214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Not for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32304"/>
            <a:ext cx="2103120" cy="2862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Lambda Function URL
Pros: least infrastructure.
Trade-off: fewer gateway controls and less deliberate public edge; not preferred for a client-facing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865376"/>
            <a:ext cx="2450592" cy="3520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288" y="1865376"/>
            <a:ext cx="82296" cy="3520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011680"/>
            <a:ext cx="21214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Later, if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432304"/>
            <a:ext cx="2103120" cy="2862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ECS / Fargate
Pros: best for persistent connections, very high sustained usage, or complex connection state.
Trade-off: more operations and cost; unnecessary for a focused v1.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Two credentials, two different purposes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A user token answers “what may this agent do?”; an internal key answers “is this trusted infrastructure?”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3383280" cy="2139696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13969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66544"/>
            <a:ext cx="30540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1. User MCP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87168"/>
            <a:ext cx="3035808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Passed from MCP client to Lambda and forwarded to the Focus Bear API.
Validated as a raw opaque token; scope and agent assignment are checked server-side.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139696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82296" cy="213969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66544"/>
            <a:ext cx="30540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2. Internal service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87168"/>
            <a:ext cx="3035808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Stored in AWS Secrets Manager and read by the Lambda execution role.
Proves the request came through the approved adapter; rotate it without redeploying clients.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920240"/>
            <a:ext cx="3383280" cy="2139696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920240"/>
            <a:ext cx="82296" cy="213969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066544"/>
            <a:ext cx="30540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3. Existing policy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487168"/>
            <a:ext cx="3035808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Focus Bear API enforces token scope, user ownership, and the token/agent assignment already recorded on a task.
No direct database access from Lambda.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53128"/>
            <a:ext cx="10844784" cy="896112"/>
          </a:xfrm>
          <a:prstGeom prst="roundRect">
            <a:avLst/>
          </a:prstGeom>
          <a:solidFill>
            <a:srgbClr val="FBE7E8"/>
          </a:solidFill>
          <a:ln w="12700">
            <a:solidFill>
              <a:srgbClr val="C95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6344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50" b="1">
                <a:solidFill>
                  <a:srgbClr val="8D3033"/>
                </a:solidFill>
                <a:latin typeface="Aptos"/>
              </a:rPr>
              <a:t>Security gate before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645152"/>
            <a:ext cx="7754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30" b="0">
                <a:solidFill>
                  <a:srgbClr val="8D3033"/>
                </a:solidFill>
                <a:latin typeface="Aptos"/>
              </a:rPr>
              <a:t>Eliminate hard-coded development fallbacks, require real authentication for token issuance, redact secrets in logs, and set explicit rate / concurrency limits.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V1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A focused tool set keeps risk and delivery time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Start with existing task operations; every write goes through the same Focus Bear API validation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57984"/>
            <a:ext cx="1975104" cy="199339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57984"/>
            <a:ext cx="82296" cy="19933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30428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List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724912"/>
            <a:ext cx="1627632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60" b="0">
                <a:solidFill>
                  <a:srgbClr val="52657A"/>
                </a:solidFill>
                <a:latin typeface="Aptos"/>
              </a:rPr>
              <a:t>Query tasks assigned to the authenticated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57984"/>
            <a:ext cx="1975104" cy="1993392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157984"/>
            <a:ext cx="82296" cy="19933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30428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Get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724912"/>
            <a:ext cx="1627632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60" b="0">
                <a:solidFill>
                  <a:srgbClr val="52657A"/>
                </a:solidFill>
                <a:latin typeface="Aptos"/>
              </a:rPr>
              <a:t>Read a permitted task by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157984"/>
            <a:ext cx="1975104" cy="19933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2157984"/>
            <a:ext cx="82296" cy="19933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5816" y="230428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Update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2724912"/>
            <a:ext cx="1627632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60" b="0">
                <a:solidFill>
                  <a:srgbClr val="52657A"/>
                </a:solidFill>
                <a:latin typeface="Aptos"/>
              </a:rPr>
              <a:t>Move a permitted task to an allowed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57984"/>
            <a:ext cx="1975104" cy="1993392"/>
          </a:xfrm>
          <a:prstGeom prst="roundRect">
            <a:avLst/>
          </a:prstGeom>
          <a:solidFill>
            <a:srgbClr val="FDF0D5"/>
          </a:solidFill>
          <a:ln w="12700">
            <a:solidFill>
              <a:srgbClr val="C99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2157984"/>
            <a:ext cx="82296" cy="1993392"/>
          </a:xfrm>
          <a:prstGeom prst="rect">
            <a:avLst/>
          </a:prstGeom>
          <a:solidFill>
            <a:srgbClr val="C9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230428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Add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724912"/>
            <a:ext cx="1627632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60" b="0">
                <a:solidFill>
                  <a:srgbClr val="52657A"/>
                </a:solidFill>
                <a:latin typeface="Aptos"/>
              </a:rPr>
              <a:t>Append a task note through the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157984"/>
            <a:ext cx="1975104" cy="199339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526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46920" y="2157984"/>
            <a:ext cx="82296" cy="1993392"/>
          </a:xfrm>
          <a:prstGeom prst="rect">
            <a:avLst/>
          </a:prstGeom>
          <a:solidFill>
            <a:srgbClr val="52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376" y="230428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Project statuses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2724912"/>
            <a:ext cx="1627632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60" b="0">
                <a:solidFill>
                  <a:srgbClr val="52657A"/>
                </a:solidFill>
                <a:latin typeface="Aptos"/>
              </a:rPr>
              <a:t>List valid statuses for a project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36592"/>
            <a:ext cx="10881360" cy="768096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983480"/>
            <a:ext cx="103601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B2545"/>
                </a:solidFill>
                <a:latin typeface="Aptos"/>
              </a:rPr>
              <a:t>Principle: expose only narrow, named business actions—not generic database access or arbitrary API proxying.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RELIABILITY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Designed for predictable behaviour under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The adapter should fail safely and make both client and engineering diagnosis straightforward.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383280" cy="2148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82296" cy="2148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66544"/>
            <a:ext cx="30540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Capacity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87168"/>
            <a:ext cx="3035808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Reserved concurrency protects the Focus Bear API; API Gateway throttling limits abusive traffic; short timeouts prevent request pile-up.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148840"/>
          </a:xfrm>
          <a:prstGeom prst="roundRect">
            <a:avLst/>
          </a:prstGeom>
          <a:solidFill>
            <a:srgbClr val="E5F5F1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82296" cy="21488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66544"/>
            <a:ext cx="30540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Error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87168"/>
            <a:ext cx="3035808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Return protocol-safe errors. Do not retry writes automatically unless an idempotency key is in place. Preserve a correlation ID for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383280" cy="214884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82296" cy="2148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2066544"/>
            <a:ext cx="30540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ptos"/>
              </a:rP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487168"/>
            <a:ext cx="3035808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2657A"/>
                </a:solidFill>
                <a:latin typeface="Aptos"/>
              </a:rPr>
              <a:t>Track invocation volume, latency, error rate, throttles and cold starts. Alert on sustained failures; never log raw credentials or full task content by default.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98848"/>
            <a:ext cx="10881360" cy="822960"/>
          </a:xfrm>
          <a:prstGeom prst="roundRect">
            <a:avLst/>
          </a:prstGeom>
          <a:solidFill>
            <a:srgbClr val="FDF0D5"/>
          </a:solidFill>
          <a:ln w="12700">
            <a:solidFill>
              <a:srgbClr val="C99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718304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50" b="1">
                <a:solidFill>
                  <a:srgbClr val="6D4F08"/>
                </a:solidFill>
                <a:latin typeface="Aptos"/>
              </a:rPr>
              <a:t>Cost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09160"/>
            <a:ext cx="88879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40" b="0">
                <a:solidFill>
                  <a:srgbClr val="6D4F08"/>
                </a:solidFill>
                <a:latin typeface="Aptos"/>
              </a:rPr>
              <a:t>Pay per request and execution time; no idle service cost. The main cost variables are request volume, streaming duration, logs/traces, and Secrets Manager 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DELIVERY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A staged rollout makes the risk visible and manageable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Exact duration follows the answers to the decision questions on the next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71016" y="1993392"/>
            <a:ext cx="530352" cy="530352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1016" y="210312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24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20" b="1">
                <a:solidFill>
                  <a:srgbClr val="0B2545"/>
                </a:solidFill>
                <a:latin typeface="Aptos"/>
              </a:rPr>
              <a:t>Confirm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30" b="0">
                <a:solidFill>
                  <a:srgbClr val="52657A"/>
                </a:solidFill>
                <a:latin typeface="Aptos"/>
              </a:rPr>
              <a:t>Client support, tool schemas, SLOs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20824" y="2258568"/>
            <a:ext cx="493776" cy="0"/>
          </a:xfrm>
          <a:prstGeom prst="line">
            <a:avLst/>
          </a:prstGeom>
          <a:ln w="20320">
            <a:solidFill>
              <a:srgbClr val="91AB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36391" y="1993392"/>
            <a:ext cx="530352" cy="530352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1" y="210312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2724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20" b="1">
                <a:solidFill>
                  <a:srgbClr val="0B2545"/>
                </a:solidFill>
                <a:latin typeface="Aptos"/>
              </a:rPr>
              <a:t>Harden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30" b="0">
                <a:solidFill>
                  <a:srgbClr val="52657A"/>
                </a:solidFill>
                <a:latin typeface="Aptos"/>
              </a:rPr>
              <a:t>Remove fallbacks, auth token issuance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2258568"/>
            <a:ext cx="493776" cy="0"/>
          </a:xfrm>
          <a:prstGeom prst="line">
            <a:avLst/>
          </a:prstGeom>
          <a:ln w="20320">
            <a:solidFill>
              <a:srgbClr val="91AB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01768" y="1993392"/>
            <a:ext cx="530352" cy="530352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10312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24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20" b="1">
                <a:solidFill>
                  <a:srgbClr val="0B2545"/>
                </a:solidFill>
                <a:latin typeface="Aptos"/>
              </a:rPr>
              <a:t>Build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30" b="0">
                <a:solidFill>
                  <a:srgbClr val="52657A"/>
                </a:solidFill>
                <a:latin typeface="Aptos"/>
              </a:rPr>
              <a:t>MCP handlers, validation, errors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51576" y="2258568"/>
            <a:ext cx="493776" cy="0"/>
          </a:xfrm>
          <a:prstGeom prst="line">
            <a:avLst/>
          </a:prstGeom>
          <a:ln w="20320">
            <a:solidFill>
              <a:srgbClr val="91AB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867144" y="1993392"/>
            <a:ext cx="530352" cy="530352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7144" y="210312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724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20" b="1">
                <a:solidFill>
                  <a:srgbClr val="0B2545"/>
                </a:solidFill>
                <a:latin typeface="Aptos"/>
              </a:rPr>
              <a:t>Provision 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30" b="0">
                <a:solidFill>
                  <a:srgbClr val="52657A"/>
                </a:solidFill>
                <a:latin typeface="Aptos"/>
              </a:rPr>
              <a:t>Gateway, Lambda, secrets, IAM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6952" y="2258568"/>
            <a:ext cx="493776" cy="0"/>
          </a:xfrm>
          <a:prstGeom prst="line">
            <a:avLst/>
          </a:prstGeom>
          <a:ln w="20320">
            <a:solidFill>
              <a:srgbClr val="91AB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732520" y="1993392"/>
            <a:ext cx="530352" cy="530352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10312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2724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20" b="1">
                <a:solidFill>
                  <a:srgbClr val="0B2545"/>
                </a:solidFill>
                <a:latin typeface="Aptos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30" b="0">
                <a:solidFill>
                  <a:srgbClr val="52657A"/>
                </a:solidFill>
                <a:latin typeface="Aptos"/>
              </a:rPr>
              <a:t>Unit, integration, security, load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2258568"/>
            <a:ext cx="493776" cy="0"/>
          </a:xfrm>
          <a:prstGeom prst="line">
            <a:avLst/>
          </a:prstGeom>
          <a:ln w="20320">
            <a:solidFill>
              <a:srgbClr val="91AB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597896" y="1993392"/>
            <a:ext cx="530352" cy="530352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7896" y="210312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7249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20" b="1">
                <a:solidFill>
                  <a:srgbClr val="0B2545"/>
                </a:solidFill>
                <a:latin typeface="Aptos"/>
              </a:rPr>
              <a:t>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30" b="0">
                <a:solidFill>
                  <a:srgbClr val="52657A"/>
                </a:solidFill>
                <a:latin typeface="Aptos"/>
              </a:rPr>
              <a:t>Limited agents, metrics, feedback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" y="4297680"/>
            <a:ext cx="106527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572000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50" b="1">
                <a:solidFill>
                  <a:srgbClr val="0B2545"/>
                </a:solidFill>
                <a:latin typeface="Aptos"/>
              </a:rPr>
              <a:t>Launch guardrail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8608" y="4553712"/>
            <a:ext cx="81930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40" b="0">
                <a:solidFill>
                  <a:srgbClr val="52657A"/>
                </a:solidFill>
                <a:latin typeface="Aptos"/>
              </a:rPr>
              <a:t>Production launch requires passed security checks, successful end-to-end MCP client tests, agreed error and support handling, and monitoring / rollback readiness.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998B"/>
                </a:solidFill>
                <a:latin typeface="Aptos"/>
              </a:rPr>
              <a:t>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B2545"/>
                </a:solidFill>
                <a:latin typeface="Aptos"/>
              </a:rPr>
              <a:t>What we need to confirm with Focus Bear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2657A"/>
                </a:solidFill>
                <a:latin typeface="Aptos"/>
              </a:rPr>
              <a:t>These answers turn the proposal into an implementation plan and a reliable estimate.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109960" cy="2286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835640" cy="7132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1645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B2545"/>
                </a:solidFill>
                <a:latin typeface="Aptos"/>
              </a:rPr>
              <a:t>Target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6896" y="2020824"/>
            <a:ext cx="8503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57A"/>
                </a:solidFill>
                <a:latin typeface="Aptos"/>
              </a:rPr>
              <a:t>Which MCP clients must be supported—and do any need streamed responses or server-initiated messages?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6352"/>
            <a:ext cx="10835640" cy="71323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80944"/>
            <a:ext cx="1645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B2545"/>
                </a:solidFill>
                <a:latin typeface="Aptos"/>
              </a:rPr>
              <a:t>Network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962656"/>
            <a:ext cx="8503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57A"/>
                </a:solidFill>
                <a:latin typeface="Aptos"/>
              </a:rPr>
              <a:t>Where is the production Focus Bear API reachable from AWS, and how will the internal service credential be rotated?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58183"/>
            <a:ext cx="10835640" cy="7132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22775"/>
            <a:ext cx="1645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B2545"/>
                </a:solidFill>
                <a:latin typeface="Aptos"/>
              </a:rPr>
              <a:t>Usage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3904487"/>
            <a:ext cx="8503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57A"/>
                </a:solidFill>
                <a:latin typeface="Aptos"/>
              </a:rPr>
              <a:t>Expected agents, peak concurrent calls, request/response sizes, and target latency / availability?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00016"/>
            <a:ext cx="10835640" cy="71323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864607"/>
            <a:ext cx="1645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0B2545"/>
                </a:solidFill>
                <a:latin typeface="Aptos"/>
              </a:rPr>
              <a:t>Identity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4846320"/>
            <a:ext cx="8503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52657A"/>
                </a:solidFill>
                <a:latin typeface="Aptos"/>
              </a:rPr>
              <a:t>Are opaque MCP tokens sufficient for v1, or is third-party OAuth / delegated identity required now?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24728"/>
            <a:ext cx="10625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1B998B"/>
                </a:solidFill>
                <a:latin typeface="Aptos"/>
              </a:rPr>
              <a:t>Proposed next step: validate client transport requirements, then run a short technical discovery to lock the interfaces and launch controls.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109960" cy="13716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74536"/>
            <a:ext cx="5943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2657A"/>
                </a:solidFill>
                <a:latin typeface="Aptos"/>
              </a:rPr>
              <a:t>FOCUS BEAR  |  AWS LAMBDA MCP PROPOSAL  |  CLIENT 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7392" y="655624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265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